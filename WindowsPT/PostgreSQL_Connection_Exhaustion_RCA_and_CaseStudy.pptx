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770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ithub-Sathish/JobQueu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PostgreSQL Connection Exhaustion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C2CB"/>
                </a:solidFill>
              </a:rPr>
              <a:t>Under Load — Root Cause &amp; Fix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CDDEE"/>
                </a:solidFill>
              </a:rPr>
              <a:t>JobQueue · Async Background Job Processing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90D9"/>
                </a:solidFill>
              </a:rPr>
              <a:t>5-Run Investigation Series  ·  Linux &amp; Windows  ·  prefork &amp; threads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DDEE"/>
                </a:solidFill>
              </a:rPr>
              <a:t>Runs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29260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0" y="2971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150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DDEE"/>
                </a:solidFill>
              </a:rPr>
              <a:t>Max Users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9260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0" y="2971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DDEE"/>
                </a:solidFill>
              </a:rPr>
              <a:t>Environments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29260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83680" y="2971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CB"/>
                </a:solidFill>
              </a:rPr>
              <a:t>PgBouncer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DDEE"/>
                </a:solidFill>
              </a:rPr>
              <a:t>Resolution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CCDDEE"/>
                </a:solidFill>
              </a:rPr>
              <a:t>Sathish  · Performance Engineer · August 2026 · </a:t>
            </a:r>
            <a:r>
              <a:rPr lang="en-US" sz="1200" dirty="0">
                <a:solidFill>
                  <a:srgbClr val="CCDDEE"/>
                </a:solidFill>
                <a:hlinkClick r:id="rId3"/>
              </a:rPr>
              <a:t>https://github.com/Github-Sathish/JobQueue</a:t>
            </a:r>
            <a:endParaRPr lang="en-US" sz="1200" dirty="0">
              <a:solidFill>
                <a:srgbClr val="CCDDEE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53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What broke, when, and how it was observed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20391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Test Setup &amp; Run Series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221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5 runs across 2 environments, 2 pool types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9077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Connection Exhaustion: Before Fix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0906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Peak 104/100 — FATAL errors reproduced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703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37764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Fix Attempt 1: CONN_MAX_AGE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9593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Improved efficiency — ceiling not resolved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1170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Fix Attempt 2: PgBouncer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135331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Root cause resolved — 0% failures, RPS 5x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9659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54880" y="203911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49240" y="1965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Cross-OS Comparison: Windows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2221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Same load, exhaustion not reproduced — why?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834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29077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Pool Type Isolation: Linux Threads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30906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Exhaustion reproduced — pool type not the cause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703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0" y="37764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3703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Root Cause &amp; Key Takeaways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39593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What actually drives it, and the defensible conclusion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DDEE"/>
                </a:solidFill>
              </a:rPr>
              <a:t>JobQueue · PostgreSQL Connection Exhaustion RCA · Sathish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D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django.db.utils.OperationalError: FATAL: sorry, too many clients already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46304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When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65960" y="19659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150 concurrent users, 20/s spawn rate, 2-minute Locust run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32888"/>
            <a:ext cx="146304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Environment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257860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Ubuntu 20.04 · PostgreSQL 12 · Django 4.2 · Celery 5.3.6 (prefork, concurrency=4)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145536"/>
            <a:ext cx="146304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31912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Threshold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65960" y="3191256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Clean at 50 and 100 users — failure was specific to sustained load at 150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58184"/>
            <a:ext cx="146304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38039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Surface symptom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3803904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21.4% failure rate · avg latency 18,848ms · RPS 6.4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370832"/>
            <a:ext cx="1463040" cy="4114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44165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Hidden signal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65960" y="4416552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At 100 users: 0% errors, but queue_delay_seconds already elevated — backend was saturating silently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DDEE"/>
                </a:solidFill>
              </a:rPr>
              <a:t>JobQueue · PostgreSQL Connection Exhaustion RCA · Sathish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5-Run Investigation Series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554480" cy="3566160"/>
          </a:xfrm>
          <a:prstGeom prst="roundRect">
            <a:avLst>
              <a:gd name="adj" fmla="val 4706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554480" cy="4572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Run 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Before Fix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OS: Linux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Pool: prefork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1280160" cy="1829"/>
          </a:xfrm>
          <a:prstGeom prst="rect">
            <a:avLst/>
          </a:prstGeom>
          <a:solidFill>
            <a:srgbClr val="CCDD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2788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5F8A"/>
                </a:solidFill>
              </a:rPr>
              <a:t>Baseline failure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84832" y="1005840"/>
            <a:ext cx="1554480" cy="3566160"/>
          </a:xfrm>
          <a:prstGeom prst="roundRect">
            <a:avLst>
              <a:gd name="adj" fmla="val 4706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084832" y="1005840"/>
            <a:ext cx="1554480" cy="4572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084832" y="1051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Run 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84832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CONN_MAX_AGE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84832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OS: Linux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84832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Pool: prefork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21992" y="2651760"/>
            <a:ext cx="1280160" cy="1829"/>
          </a:xfrm>
          <a:prstGeom prst="rect">
            <a:avLst/>
          </a:prstGeom>
          <a:solidFill>
            <a:srgbClr val="CCDD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084832" y="2788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5F8A"/>
                </a:solidFill>
              </a:rPr>
              <a:t>Fix attempt 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03904" y="1005840"/>
            <a:ext cx="1554480" cy="3566160"/>
          </a:xfrm>
          <a:prstGeom prst="roundRect">
            <a:avLst>
              <a:gd name="adj" fmla="val 4706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03904" y="1005840"/>
            <a:ext cx="1554480" cy="4572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803904" y="1051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Run 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803904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PgBouncer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03904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OS: Linux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03904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Pool: prefork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41064" y="2651760"/>
            <a:ext cx="1280160" cy="1829"/>
          </a:xfrm>
          <a:prstGeom prst="rect">
            <a:avLst/>
          </a:prstGeom>
          <a:solidFill>
            <a:srgbClr val="CCDD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03904" y="2788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5F8A"/>
                </a:solidFill>
              </a:rPr>
              <a:t>Fix attempt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22976" y="1005840"/>
            <a:ext cx="1554480" cy="3566160"/>
          </a:xfrm>
          <a:prstGeom prst="roundRect">
            <a:avLst>
              <a:gd name="adj" fmla="val 4706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522976" y="1005840"/>
            <a:ext cx="1554480" cy="4572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522976" y="1051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Run 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522976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Windows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22976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OS: Windows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22976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Pool: threads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0136" y="2651760"/>
            <a:ext cx="1280160" cy="1829"/>
          </a:xfrm>
          <a:prstGeom prst="rect">
            <a:avLst/>
          </a:prstGeom>
          <a:solidFill>
            <a:srgbClr val="CCDD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522976" y="2788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5F8A"/>
                </a:solidFill>
              </a:rPr>
              <a:t>Cross-OS comparison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42048" y="1005840"/>
            <a:ext cx="1554480" cy="3566160"/>
          </a:xfrm>
          <a:prstGeom prst="roundRect">
            <a:avLst>
              <a:gd name="adj" fmla="val 4706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242048" y="1005840"/>
            <a:ext cx="1554480" cy="45720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242048" y="1051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Run 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242048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</a:rPr>
              <a:t>Linux Threads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42048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OS: Linux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42048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Pool: threads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79208" y="2651760"/>
            <a:ext cx="1280160" cy="1829"/>
          </a:xfrm>
          <a:prstGeom prst="rect">
            <a:avLst/>
          </a:prstGeom>
          <a:solidFill>
            <a:srgbClr val="CCDD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242048" y="2788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5F8A"/>
                </a:solidFill>
              </a:rPr>
              <a:t>Pool type isolation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All runs: 150 users · 20/s spawn · 2-min duration · CONN_MAX_AGE=0 unless stated · No PgBouncer unless stated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DDEE"/>
                </a:solidFill>
              </a:rPr>
              <a:t>JobQueue · PostgreSQL Connection Exhaustion RCA · Sathish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Run A — Before Fix: Ceiling Breached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2286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4C3C"/>
                </a:solidFill>
              </a:rPr>
              <a:t>104/100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Peak Connections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Ceiling breached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1920240" cy="2286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6888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4C3C"/>
                </a:solidFill>
              </a:rPr>
              <a:t>21.4%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Failure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1965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162 of 757 requests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1920240" cy="2286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</a:rPr>
              <a:t>6.4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0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RPS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1965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Throughput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675120" y="1005840"/>
            <a:ext cx="1920240" cy="2286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7512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</a:rPr>
              <a:t>18.8s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675120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Avg Latency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1965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p95: 70s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What the data showed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26974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• Connections climbed from baseline 2 → 104 within 30 seconds of Locust starting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1363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• FATAL errors appeared in a tight 1-second burst — characteristic of a spike, not a slow leak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57530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• pg_stat_activity showed active=1-4, idle=96-104 — connections held open but not actively querying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01421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• Django web threads hold idle connections while waiting for the next request (thread-local connection per Django thread)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DDEE"/>
                </a:solidFill>
              </a:rPr>
              <a:t>JobQueue · PostgreSQL Connection Exhaustion RCA · Sathish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Run B — Fix Attempt 1: CONN_MAX_AGE=60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01168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005840"/>
            <a:ext cx="18288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377440" y="1024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Before Fix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005840"/>
            <a:ext cx="201168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206240" y="10241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+ CONN_MAX_AGE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005840"/>
            <a:ext cx="18288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0" y="1024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Change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201168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344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Requests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377440" y="1325880"/>
            <a:ext cx="182880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377440" y="1344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757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1325880"/>
            <a:ext cx="201168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206240" y="1344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1,085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325880"/>
            <a:ext cx="182880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17920" y="13441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+43%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1673352"/>
            <a:ext cx="20116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Failures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77440" y="1673352"/>
            <a:ext cx="1828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3774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162 (21.4%)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1673352"/>
            <a:ext cx="20116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206240" y="1691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161 (14.8%)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673352"/>
            <a:ext cx="1828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179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</a:rPr>
              <a:t>Still failing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2020824"/>
            <a:ext cx="201168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5760" y="2039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Avg Latency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77440" y="2020824"/>
            <a:ext cx="182880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377440" y="2039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18,848 ms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06240" y="2020824"/>
            <a:ext cx="201168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206240" y="2039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11,631 ms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020824"/>
            <a:ext cx="182880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17920" y="2039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-38%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2368296"/>
            <a:ext cx="20116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65760" y="23865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p95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377440" y="2368296"/>
            <a:ext cx="1828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377440" y="23865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70,000 ms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06240" y="2368296"/>
            <a:ext cx="20116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206240" y="23865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37,000 ms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0" y="2368296"/>
            <a:ext cx="18288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217920" y="23865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-47%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2715768"/>
            <a:ext cx="201168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65760" y="27340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RPS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377440" y="2715768"/>
            <a:ext cx="182880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377440" y="27340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6.4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06240" y="2715768"/>
            <a:ext cx="201168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206240" y="27340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9.1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17920" y="2715768"/>
            <a:ext cx="182880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217920" y="27340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+42%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3063240"/>
            <a:ext cx="2011680" cy="329184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65760" y="3081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55555"/>
                </a:solidFill>
              </a:rPr>
              <a:t>Peak Connections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377440" y="3063240"/>
            <a:ext cx="1828800" cy="329184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377440" y="3081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55555"/>
                </a:solidFill>
              </a:rPr>
              <a:t>104 / 100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206240" y="3063240"/>
            <a:ext cx="2011680" cy="329184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206240" y="30815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55555"/>
                </a:solidFill>
              </a:rPr>
              <a:t>104 / 100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217920" y="3063240"/>
            <a:ext cx="1828800" cy="329184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217920" y="3081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</a:rPr>
              <a:t>NO CHANGE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" y="36576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9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</a:rPr>
              <a:t>Why it helps but does not fix: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CONN_MAX_AGE reduces how often connections open/close — not how many can be open simultaneously. Under 150 concurrent users, peak occupancy is the same: 104 threads all holding connections at once.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DDEE"/>
                </a:solidFill>
              </a:rPr>
              <a:t>JobQueue · PostgreSQL Connection Exhaustion RCA · Sathish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Run C — Fix Attempt 2: PgBouncer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</a:rPr>
              <a:t>26/100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Peak Connections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Was 104 — 75% reduction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68880" y="1005840"/>
            <a:ext cx="192024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6888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</a:rPr>
              <a:t>0.0%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Failure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1965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1 failure in 4,078 requests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192024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</a:rPr>
              <a:t>34.2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72000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RPS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1965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Was 6.4 — 5x improvement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100584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675120" y="1005840"/>
            <a:ext cx="1920240" cy="22860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75120" y="1280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</a:rPr>
              <a:t>2.1s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675120" y="17556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</a:rPr>
              <a:t>Avg Latency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19659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p95: 4.3s (was 70s)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How PgBouncer fixes it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26974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Django/Celery connect to PgBouncer (port 6432) — not directly to Postgres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0632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PgBouncer enforces default_pool_size=20 real backend connections to Postgres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2900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max_client_conn=200: up to 200 Django threads can hold client connections — PgBouncer queues them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7947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Transaction mode: real connection returned to pool after each transaction, not held idle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1605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Django: CONN_MAX_AGE=0 required — PgBouncer owns the pooling, not Django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• Postgres log: zero new FATAL entries during the entire run — ceiling never approached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DDEE"/>
                </a:solidFill>
              </a:rPr>
              <a:t>JobQueue · PostgreSQL Connection Exhaustion RCA · Sathish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Run D — Windows Setup vs Linux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11680" y="960120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11680" y="98755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Linux (Runs A–C)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96012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577840" y="98755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Windows (Run 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1645920" cy="32918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151790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463040"/>
            <a:ext cx="301752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057400" y="151790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Ubuntu 20.04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463040"/>
            <a:ext cx="320040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623560" y="151790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Windows 11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1517904"/>
            <a:ext cx="457200" cy="219456"/>
          </a:xfrm>
          <a:prstGeom prst="roundRect">
            <a:avLst>
              <a:gd name="adj" fmla="val 16667"/>
            </a:avLst>
          </a:prstGeom>
          <a:solidFill>
            <a:srgbClr val="8888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74920" y="151790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=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819656"/>
            <a:ext cx="1645920" cy="32918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18745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11680" y="1819656"/>
            <a:ext cx="3017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057400" y="187452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v12  ·  max_connections=100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819656"/>
            <a:ext cx="3200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23560" y="187452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v18.3  ·  max_connections=100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1874520"/>
            <a:ext cx="457200" cy="219456"/>
          </a:xfrm>
          <a:prstGeom prst="roundRect">
            <a:avLst>
              <a:gd name="adj" fmla="val 16667"/>
            </a:avLst>
          </a:prstGeom>
          <a:solidFill>
            <a:srgbClr val="8888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74920" y="187452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=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176272"/>
            <a:ext cx="1645920" cy="32918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74320" y="223113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Redis / Broker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0" y="2176272"/>
            <a:ext cx="301752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57400" y="223113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Redis (native)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0" y="2176272"/>
            <a:ext cx="320040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623560" y="223113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Memurai 4.2.3 (Redis-compatible)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2231136"/>
            <a:ext cx="457200" cy="219456"/>
          </a:xfrm>
          <a:prstGeom prst="roundRect">
            <a:avLst>
              <a:gd name="adj" fmla="val 16667"/>
            </a:avLst>
          </a:prstGeom>
          <a:solidFill>
            <a:srgbClr val="8888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74920" y="223113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=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532888"/>
            <a:ext cx="1645920" cy="32918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74320" y="2587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Django Server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11680" y="2532888"/>
            <a:ext cx="3017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057400" y="258775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manage.py runserver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77840" y="2532888"/>
            <a:ext cx="3200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623560" y="258775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manage.py runserver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74920" y="2587752"/>
            <a:ext cx="457200" cy="219456"/>
          </a:xfrm>
          <a:prstGeom prst="roundRect">
            <a:avLst>
              <a:gd name="adj" fmla="val 16667"/>
            </a:avLst>
          </a:prstGeom>
          <a:solidFill>
            <a:srgbClr val="8888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074920" y="258775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=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2889504"/>
            <a:ext cx="1645920" cy="32918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74320" y="29443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CONN_MAX_AGE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011680" y="2889504"/>
            <a:ext cx="301752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057400" y="2944368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0 (default)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577840" y="2889504"/>
            <a:ext cx="320040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623560" y="294436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0 (default)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74920" y="2944368"/>
            <a:ext cx="457200" cy="219456"/>
          </a:xfrm>
          <a:prstGeom prst="roundRect">
            <a:avLst>
              <a:gd name="adj" fmla="val 16667"/>
            </a:avLst>
          </a:prstGeom>
          <a:solidFill>
            <a:srgbClr val="8888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074920" y="2944368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=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3246120"/>
            <a:ext cx="1645920" cy="32918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74320" y="33009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PgBouncer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011680" y="3246120"/>
            <a:ext cx="3017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057400" y="330098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No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577840" y="3246120"/>
            <a:ext cx="3200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623560" y="330098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No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074920" y="3300984"/>
            <a:ext cx="457200" cy="219456"/>
          </a:xfrm>
          <a:prstGeom prst="roundRect">
            <a:avLst>
              <a:gd name="adj" fmla="val 16667"/>
            </a:avLst>
          </a:prstGeom>
          <a:solidFill>
            <a:srgbClr val="8888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074920" y="3300984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=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3602736"/>
            <a:ext cx="1645920" cy="32918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74320" y="36576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Celery Pool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011680" y="3602736"/>
            <a:ext cx="3017520" cy="32918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2057400" y="365760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74C3C"/>
                </a:solidFill>
              </a:rPr>
              <a:t>prefork  (default)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577840" y="3602736"/>
            <a:ext cx="3200400" cy="329184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5623560" y="3657600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</a:rPr>
              <a:t>threads  (--pool=threads)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074920" y="3657600"/>
            <a:ext cx="457200" cy="219456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5074920" y="3657600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≠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4320" y="3959352"/>
            <a:ext cx="1645920" cy="32918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274320" y="40142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Concurrency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011680" y="3959352"/>
            <a:ext cx="3017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2057400" y="4014216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4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577840" y="3959352"/>
            <a:ext cx="320040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5623560" y="401421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4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074920" y="4014216"/>
            <a:ext cx="457200" cy="219456"/>
          </a:xfrm>
          <a:prstGeom prst="roundRect">
            <a:avLst>
              <a:gd name="adj" fmla="val 16667"/>
            </a:avLst>
          </a:prstGeom>
          <a:solidFill>
            <a:srgbClr val="8888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5074920" y="4014216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=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74320" y="4315968"/>
            <a:ext cx="1645920" cy="32918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74320" y="437083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Locust Users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011680" y="4315968"/>
            <a:ext cx="301752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2057400" y="437083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150  ·  20/s  ·  2 min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5577840" y="4315968"/>
            <a:ext cx="3200400" cy="329184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5623560" y="4370832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</a:rPr>
              <a:t>150  ·  20/s  ·  2 min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074920" y="4370832"/>
            <a:ext cx="457200" cy="219456"/>
          </a:xfrm>
          <a:prstGeom prst="roundRect">
            <a:avLst>
              <a:gd name="adj" fmla="val 16667"/>
            </a:avLst>
          </a:prstGeom>
          <a:solidFill>
            <a:srgbClr val="8888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5074920" y="4370832"/>
            <a:ext cx="457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=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74320" y="4663440"/>
            <a:ext cx="8595360" cy="320040"/>
          </a:xfrm>
          <a:prstGeom prst="roundRect">
            <a:avLst>
              <a:gd name="adj" fmla="val 17143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457200" y="470001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DDEE"/>
                </a:solidFill>
              </a:rPr>
              <a:t>Only one variable intentionally different: Celery pool type — prefork on Linux, threads on Windows (Windows does not support prefork)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Run D — Windows: Exhaustion Not Reproduced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4C3C"/>
                </a:solidFill>
              </a:rPr>
              <a:t>Linux (prefork)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AE60"/>
                </a:solidFill>
              </a:rPr>
              <a:t>Windows (threads)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64592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Peak connections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11680" y="1417320"/>
            <a:ext cx="2331720" cy="384048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011680" y="1481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</a:rPr>
              <a:t>104 / 100 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2331720" cy="384048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46320" y="1481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AE60"/>
                </a:solidFill>
              </a:rPr>
              <a:t>11 / 100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164592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9110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Failure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1680" y="1847088"/>
            <a:ext cx="2331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011680" y="191109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</a:rPr>
              <a:t>21.4%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847088"/>
            <a:ext cx="2331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46320" y="191109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AE60"/>
                </a:solidFill>
              </a:rPr>
              <a:t>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276856"/>
            <a:ext cx="164592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23408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Avg latency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011680" y="2276856"/>
            <a:ext cx="2331720" cy="384048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011680" y="234086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</a:rPr>
              <a:t>18,848 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276856"/>
            <a:ext cx="2331720" cy="384048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46320" y="234086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AE60"/>
                </a:solidFill>
              </a:rPr>
              <a:t>6,578 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706624"/>
            <a:ext cx="164592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27706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p95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11680" y="2706624"/>
            <a:ext cx="2331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11680" y="27706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</a:rPr>
              <a:t>70,000 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706624"/>
            <a:ext cx="2331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46320" y="277063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AE60"/>
                </a:solidFill>
              </a:rPr>
              <a:t>10,000 ms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136392"/>
            <a:ext cx="164592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65760" y="3200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11680" y="3136392"/>
            <a:ext cx="2331720" cy="384048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011680" y="32004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</a:rPr>
              <a:t>6.4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136392"/>
            <a:ext cx="2331720" cy="384048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46320" y="32004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AE60"/>
                </a:solidFill>
              </a:rPr>
              <a:t>14.7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566160"/>
            <a:ext cx="164592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65760" y="36301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Queue depth peak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11680" y="3566160"/>
            <a:ext cx="2331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011680" y="36301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</a:rPr>
              <a:t>N/A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3566160"/>
            <a:ext cx="233172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46320" y="36301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AE60"/>
                </a:solidFill>
              </a:rPr>
              <a:t>~550 (worker saturation)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995928"/>
            <a:ext cx="164592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65760" y="40599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FATAL errors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011680" y="3995928"/>
            <a:ext cx="2331720" cy="384048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011680" y="40599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4C3C"/>
                </a:solidFill>
              </a:rPr>
              <a:t>Yes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3995928"/>
            <a:ext cx="2331720" cy="384048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846320" y="405993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7AE60"/>
                </a:solidFill>
              </a:rPr>
              <a:t>None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448056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E8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48640" y="454456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5F8A"/>
                </a:solidFill>
              </a:rPr>
              <a:t>Hypothesis: pool type caused the difference. This was tested in Run E.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DDEE"/>
                </a:solidFill>
              </a:rPr>
              <a:t>JobQueue · PostgreSQL Connection Exhaustion RCA · Sathish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</a:rPr>
              <a:t>Run E — Linux Threads: Pool Type Isolated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</a:rPr>
              <a:t>Only one variable changed vs Run A: Celery pool type (prefork → threads). Everything else identical.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FD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43560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</a:rPr>
              <a:t>Result: Connection exhaustion reproduced. Peak connections hit 100 at 14:31:01. FATAL errors appeared immediately.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State log evidence — what actually holds the connections: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128016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2560320"/>
            <a:ext cx="82296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645920" y="25786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560320"/>
            <a:ext cx="82296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68880" y="25786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Active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2560320"/>
            <a:ext cx="82296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91840" y="257860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Idle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2560320"/>
            <a:ext cx="4114800" cy="27432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0" y="25786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Observation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1280160" cy="31089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28620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14:30:24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0" y="2834640"/>
            <a:ext cx="822960" cy="31089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645920" y="28620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68880" y="2834640"/>
            <a:ext cx="822960" cy="31089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468880" y="28620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834640"/>
            <a:ext cx="822960" cy="31089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0" y="286207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0" y="2834640"/>
            <a:ext cx="4114800" cy="31089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114800" y="28620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Locust starts — Django threads spin up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163824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5760" y="31912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14:30:46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645920" y="3163824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645920" y="31912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65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68880" y="3163824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468880" y="31912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3163824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91840" y="31912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64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0" y="3163824"/>
            <a:ext cx="41148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114800" y="31912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Rapid ramp — mostly idle connections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493008"/>
            <a:ext cx="1280160" cy="31089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65760" y="35204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14:31:01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645920" y="3493008"/>
            <a:ext cx="822960" cy="31089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1645920" y="35204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100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68880" y="3493008"/>
            <a:ext cx="822960" cy="31089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468880" y="35204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91840" y="3493008"/>
            <a:ext cx="822960" cy="31089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91840" y="35204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98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14800" y="3493008"/>
            <a:ext cx="4114800" cy="31089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114800" y="35204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Ceiling hit — FATAL begins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3822192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65760" y="38496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</a:rPr>
              <a:t>14:31:22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645920" y="3822192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1645920" y="384962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101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468880" y="3822192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468880" y="384962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2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91840" y="3822192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291840" y="384962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99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114800" y="3822192"/>
            <a:ext cx="41148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114800" y="38496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Briefly exceeded — one slipped past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206240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E8F6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48640" y="4270248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</a:rPr>
              <a:t>Conclusion: Pool type is NOT the cause. Active stayed at 1-4 throughout. Idle climbed to 99. Django web threads hold idle connections — this is identical whether Celery uses prefork or threads.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DDEE"/>
                </a:solidFill>
              </a:rPr>
              <a:t>JobQueue · PostgreSQL Connection Exhaustion RCA · Sathish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Root Cause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Django opens one Postgres connection per web thread. With CONN_MAX_AGE=0, connections close after the request — but threads stay alive, holding connections idle while waiting for the next request. At 150 concurrent users, 100 threads are simultaneously in-flight, each holding one idle connection. The 101st is turned away by Postgres.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🔗  Thread-local connections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Django assigns one DB connection per thread. Thread pool keeps threads alive between requests.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⏱  CONN_MAX_AGE=0 (default)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Connection closes after request, but idle thread holds it open until thread terminates.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1488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📈  Concurrency × thread count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150 users → 100+ simultaneous threads → 100+ simultaneous idle connections.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0632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5488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🚫  max_connections=100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383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Postgres hard ceiling. 101st connection attempt gets FATAL error immediately.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404164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</a:rPr>
              <a:t>Why Windows did not reproduce: Windows threading model + Django connection lifecycle interact differently — connections released more aggressively. Not a proven isolation, but pool type (prefork vs threads) is ruled out as the primary cause.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DDEE"/>
                </a:solidFill>
              </a:rPr>
              <a:t>JobQueue · PostgreSQL Connection Exhaustion RCA · Sathish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CONN_MAX_AGE ≠ connection cap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2801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Reduces churn. Does not limit concurrent connections. Peak count unchanged at 104 before and after.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PgBouncer is the structural fix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0756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Enforces a hard cap at the pooler layer. Postgres never sees more than default_pool_size real connections.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67004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5968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Pool type is not the cause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87121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Run E proved exhaustion reproduces on Linux with threads pool. The Django web-layer holds connections — not Celery.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39242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34655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39242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Surface metrics can be healthy while the system is saturated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66674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0% errors at 100 users, but queue_delay_seconds was already elevated. Monitor percentile latency and queue depth — not just error rate.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879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2C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426110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187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OS environment changes the behaviour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4622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Same load, same code, different OS: Windows did not reproduce exhaustion. Environment is a variable — test in both.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DDEE"/>
                </a:solidFill>
              </a:rPr>
              <a:t>JobQueue · PostgreSQL Connection Exhaustion RCA · Sathish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All Runs — Side-by-Side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46304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784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Metric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37360" y="960120"/>
            <a:ext cx="146304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737360" y="9784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 Before Fix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155448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0" y="978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 +CONN_MAX_AGE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13716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9784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 +PgBouncer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137160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26480" y="9784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 Windows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960120"/>
            <a:ext cx="1554480" cy="32004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498080" y="9784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 Linux Threads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280160"/>
            <a:ext cx="146304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74320" y="131673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Requests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37360" y="1280160"/>
            <a:ext cx="146304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737360" y="131673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757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1280160"/>
            <a:ext cx="15544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0" y="131673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1,085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280160"/>
            <a:ext cx="137160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131673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4,078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280160"/>
            <a:ext cx="137160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26480" y="131673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1,780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0" y="1280160"/>
            <a:ext cx="15544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498080" y="131673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1,628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1709928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74320" y="174650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Failures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37360" y="1709928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737360" y="174650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162 (21.4%)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1709928"/>
            <a:ext cx="15544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0" y="174650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161 (14.8%)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1709928"/>
            <a:ext cx="13716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174650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</a:rPr>
              <a:t>1 (0.0%)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1709928"/>
            <a:ext cx="13716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126480" y="174650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0 (0.0%)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98080" y="1709928"/>
            <a:ext cx="15544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498080" y="174650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126 (7.7%)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2139696"/>
            <a:ext cx="146304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74320" y="21762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Avg (ms)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737360" y="2139696"/>
            <a:ext cx="146304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737360" y="21762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18,848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0" y="2139696"/>
            <a:ext cx="15544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00400" y="217627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11,631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2139696"/>
            <a:ext cx="137160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754880" y="217627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</a:rPr>
              <a:t>2,085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2139696"/>
            <a:ext cx="137160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126480" y="217627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6,578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98080" y="2139696"/>
            <a:ext cx="15544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498080" y="217627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8,210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2569464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274320" y="26060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p95 (ms)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737360" y="2569464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1737360" y="26060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70,000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0" y="2569464"/>
            <a:ext cx="15544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200400" y="26060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37,000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54880" y="2569464"/>
            <a:ext cx="13716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754880" y="26060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</a:rPr>
              <a:t>4,300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26480" y="2569464"/>
            <a:ext cx="13716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126480" y="260604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10,000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98080" y="2569464"/>
            <a:ext cx="15544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498080" y="260604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40,000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2999232"/>
            <a:ext cx="146304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274320" y="30358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RPS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737360" y="2999232"/>
            <a:ext cx="146304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1737360" y="303580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6.4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0" y="2999232"/>
            <a:ext cx="15544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3200400" y="30358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9.1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754880" y="2999232"/>
            <a:ext cx="137160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754880" y="30358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</a:rPr>
              <a:t>34.2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126480" y="2999232"/>
            <a:ext cx="137160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6126480" y="303580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14.7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498080" y="2999232"/>
            <a:ext cx="15544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7498080" y="30358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13.7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74320" y="342900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74320" y="346557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Peak Conn.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737360" y="3429000"/>
            <a:ext cx="146304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1737360" y="346557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</a:rPr>
              <a:t>104/100 ⚠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3200400" y="3429000"/>
            <a:ext cx="15544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3200400" y="346557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</a:rPr>
              <a:t>104/100 ⚠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754880" y="3429000"/>
            <a:ext cx="13716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4754880" y="346557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</a:rPr>
              <a:t>26/100 ✓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126480" y="3429000"/>
            <a:ext cx="137160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6126480" y="346557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</a:rPr>
              <a:t>11/100 ✓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498080" y="3429000"/>
            <a:ext cx="1554480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7498080" y="346557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</a:rPr>
              <a:t>100/100 ⚠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74320" y="3858768"/>
            <a:ext cx="146304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274320" y="38953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FATAL errors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737360" y="3858768"/>
            <a:ext cx="146304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1737360" y="38953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</a:rPr>
              <a:t>Yes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200400" y="3858768"/>
            <a:ext cx="15544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200400" y="389534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</a:rPr>
              <a:t>Yes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754880" y="3858768"/>
            <a:ext cx="137160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754880" y="38953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</a:rPr>
              <a:t>No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126480" y="3858768"/>
            <a:ext cx="137160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6126480" y="389534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7AE60"/>
                </a:solidFill>
              </a:rPr>
              <a:t>No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7498080" y="3858768"/>
            <a:ext cx="1554480" cy="402336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7498080" y="389534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</a:rPr>
              <a:t>Yes</a:t>
            </a:r>
            <a:endParaRPr lang="en-US" sz="1000" dirty="0"/>
          </a:p>
        </p:txBody>
      </p:sp>
      <p:sp>
        <p:nvSpPr>
          <p:cNvPr id="100" name="Text 98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Green = positive outcome  ·  Red = ceiling breached or errors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CDDEE"/>
                </a:solidFill>
              </a:rPr>
              <a:t>JobQueue · PostgreSQL Connection Exhaustion RCA · Sathish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9290083-bd2f-48a2-8ac5-09a524b17d15}" enabled="1" method="Privileged" siteId="{b9fec68c-c92d-461e-9a97-3d03a0f18b82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1661</Words>
  <Application>Microsoft Office PowerPoint</Application>
  <PresentationFormat>On-screen Show (16:9)</PresentationFormat>
  <Paragraphs>342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A, Sathish Kumar</cp:lastModifiedBy>
  <cp:revision>3</cp:revision>
  <dcterms:created xsi:type="dcterms:W3CDTF">2026-08-21T19:39:51Z</dcterms:created>
  <dcterms:modified xsi:type="dcterms:W3CDTF">2026-08-30T12:24:47Z</dcterms:modified>
</cp:coreProperties>
</file>