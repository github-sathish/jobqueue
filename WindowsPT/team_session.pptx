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5" r:id="rId6"/>
    <p:sldId id="260" r:id="rId7"/>
    <p:sldId id="261" r:id="rId8"/>
    <p:sldId id="262" r:id="rId9"/>
    <p:sldId id="263" r:id="rId10"/>
    <p:sldId id="266" r:id="rId11"/>
    <p:sldId id="268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DB97E79-00D4-4448-9F5B-B30C82C49DBB}">
          <p14:sldIdLst>
            <p14:sldId id="256"/>
            <p14:sldId id="257"/>
            <p14:sldId id="258"/>
            <p14:sldId id="259"/>
            <p14:sldId id="265"/>
            <p14:sldId id="260"/>
            <p14:sldId id="261"/>
            <p14:sldId id="262"/>
            <p14:sldId id="263"/>
            <p14:sldId id="266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1477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14CEC-2DAA-9F84-6B75-0C44FB402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DBEDD9-CA38-3BF1-80F0-B16BEDD41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C8F7AD-AC70-6884-9F93-B8492506D6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7F7149-D555-4D45-27B9-15AD172685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2169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B1A93-18CE-9338-5225-B7CE34F9B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F1C8D7-4CC4-E033-F4D8-DB70F31062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B875E0-0BCC-1841-3754-CFC550AE79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6A40E0-5094-0D51-8D10-AF5AC84A59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4366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6B1B1-3C7B-78EF-F2D1-2ACB80543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08901C-9691-80A7-FEBE-E3B2502151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C119DB-0C57-6CEA-9C13-17CFD0EA60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1BA3E9-DDCC-4A0E-7140-655F883258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5755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384048"/>
            <a:ext cx="164592" cy="164592"/>
          </a:xfrm>
          <a:prstGeom prst="ellipse">
            <a:avLst/>
          </a:prstGeom>
          <a:solidFill>
            <a:srgbClr val="BBD9E8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1722608" y="502920"/>
            <a:ext cx="109728" cy="109728"/>
          </a:xfrm>
          <a:prstGeom prst="ellipse">
            <a:avLst/>
          </a:prstGeom>
          <a:solidFill>
            <a:srgbClr val="BBD9E8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1594592" y="621792"/>
            <a:ext cx="73152" cy="73152"/>
          </a:xfrm>
          <a:prstGeom prst="ellipse">
            <a:avLst/>
          </a:prstGeom>
          <a:solidFill>
            <a:srgbClr val="BBD9E8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2148840"/>
            <a:ext cx="1069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RCA: PostgreSQL Connection</a:t>
            </a:r>
            <a:endParaRPr lang="en-US" sz="38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Exhaustion Under Load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49808" y="3611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BB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JobQueue  —  Async Background Job Processing System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9808" y="4206240"/>
            <a:ext cx="20116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49808" y="4389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B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150-user load test investigation · CONN_MAX_AGE → PgBouncer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9808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B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Sathish  ·  Performance Engineering  ·  August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384048"/>
            <a:ext cx="164592" cy="164592"/>
          </a:xfrm>
          <a:prstGeom prst="ellipse">
            <a:avLst/>
          </a:prstGeom>
          <a:solidFill>
            <a:srgbClr val="1C7293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1722608" y="502920"/>
            <a:ext cx="109728" cy="109728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1594592" y="621792"/>
            <a:ext cx="73152" cy="73152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5943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150 concurrent users, JobQueue API requests began failing with a PostgreSQL connection error.</a:t>
            </a:r>
            <a:endParaRPr lang="en-US" sz="16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errors occurred at 50 or 100 concurrent users — the failure was specific to sustained load at 150.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Reproduced consistently across repeated runs.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766560" y="1280160"/>
            <a:ext cx="4846320" cy="1920240"/>
          </a:xfrm>
          <a:prstGeom prst="roundRect">
            <a:avLst>
              <a:gd name="adj" fmla="val 3810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995160" y="1444752"/>
            <a:ext cx="438912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F5B9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django.db.utils.OperationalError: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F5B9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 to server at "localhost"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F5B9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(127.0.0.1), port 5432 failed: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F5B9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FATAL:  sorry, too many clients already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FBE7E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" y="38862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B2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21.4%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731520" y="464515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failed at 150 users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0" y="374904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EEF3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114800" y="38862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297680" y="464515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users — the breaking point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680960" y="374904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DCEB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680960" y="38862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7863840" y="464515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max_connections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384048"/>
            <a:ext cx="164592" cy="164592"/>
          </a:xfrm>
          <a:prstGeom prst="ellipse">
            <a:avLst/>
          </a:prstGeom>
          <a:solidFill>
            <a:srgbClr val="1C7293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1722608" y="502920"/>
            <a:ext cx="109728" cy="109728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1594592" y="621792"/>
            <a:ext cx="73152" cy="73152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EEF3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77240" y="1600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772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15727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1938528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20.04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43400" y="13716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EEF3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572000" y="1600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5720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212080" y="15727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12080" y="1938528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38160" y="13716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EEF3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366760" y="1600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36676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006840" y="15727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006840" y="1938528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3.8.10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0632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EEF3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77240" y="32918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7724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17320" y="326440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17320" y="3630168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+ DRF, Celery, Redis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343400" y="30632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EEF3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572000" y="32918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57200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212080" y="326440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worker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212080" y="3630168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concurrency=4, 3 queues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138160" y="30632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EEF3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8366760" y="32918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36676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006840" y="326440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tool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006840" y="3630168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Locust 2.24.1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384048"/>
            <a:ext cx="164592" cy="164592"/>
          </a:xfrm>
          <a:prstGeom prst="ellipse">
            <a:avLst/>
          </a:prstGeom>
          <a:solidFill>
            <a:srgbClr val="1C7293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1722608" y="502920"/>
            <a:ext cx="109728" cy="109728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1594592" y="621792"/>
            <a:ext cx="73152" cy="73152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709160" y="1234440"/>
            <a:ext cx="2743200" cy="566928"/>
          </a:xfrm>
          <a:prstGeom prst="roundRect">
            <a:avLst>
              <a:gd name="adj" fmla="val 967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709160" y="12893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709160" y="154533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Locust / API consumers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080760" y="1801368"/>
            <a:ext cx="0" cy="30175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709160" y="2103120"/>
            <a:ext cx="2743200" cy="566928"/>
          </a:xfrm>
          <a:prstGeom prst="roundRect">
            <a:avLst>
              <a:gd name="adj" fmla="val 967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709160" y="21579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 API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709160" y="24140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HTTP requests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 flipH="1">
            <a:off x="2788920" y="2670048"/>
            <a:ext cx="2606040" cy="30175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766560" y="2670048"/>
            <a:ext cx="2606040" cy="30175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001000" y="2971800"/>
            <a:ext cx="2743200" cy="566928"/>
          </a:xfrm>
          <a:prstGeom prst="roundRect">
            <a:avLst>
              <a:gd name="adj" fmla="val 9677"/>
            </a:avLst>
          </a:prstGeom>
          <a:solidFill>
            <a:srgbClr val="D968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001000" y="3026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001000" y="328269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+ result backend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052560" y="3538728"/>
            <a:ext cx="0" cy="30175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 flipV="1">
            <a:off x="9692640" y="3538728"/>
            <a:ext cx="0" cy="30175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1447800" y="2998859"/>
            <a:ext cx="2743200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1386840" y="3090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417320" y="331516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max_connections=100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001000" y="3840480"/>
            <a:ext cx="2743200" cy="566928"/>
          </a:xfrm>
          <a:prstGeom prst="roundRect">
            <a:avLst>
              <a:gd name="adj" fmla="val 9677"/>
            </a:avLst>
          </a:prstGeom>
          <a:solidFill>
            <a:srgbClr val="D968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8001000" y="38953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workers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001000" y="415137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queues, concurrency=4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001000" y="4709160"/>
            <a:ext cx="2743200" cy="566928"/>
          </a:xfrm>
          <a:prstGeom prst="roundRect">
            <a:avLst>
              <a:gd name="adj" fmla="val 9677"/>
            </a:avLst>
          </a:prstGeom>
          <a:solidFill>
            <a:srgbClr val="D968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8001000" y="47640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beat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001000" y="502005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 periodic tasks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0561320" y="4709160"/>
            <a:ext cx="45720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11018520" y="3255264"/>
            <a:ext cx="0" cy="1453896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 flipH="1">
            <a:off x="10744200" y="3255264"/>
            <a:ext cx="27432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1417320" y="5532120"/>
            <a:ext cx="9326880" cy="960120"/>
          </a:xfrm>
          <a:prstGeom prst="roundRect">
            <a:avLst>
              <a:gd name="adj" fmla="val 7619"/>
            </a:avLst>
          </a:prstGeom>
          <a:ln w="12700">
            <a:solidFill>
              <a:srgbClr val="B9C2C8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1600200" y="5577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331720" y="5870448"/>
            <a:ext cx="3108960" cy="566928"/>
          </a:xfrm>
          <a:prstGeom prst="roundRect">
            <a:avLst>
              <a:gd name="adj" fmla="val 9677"/>
            </a:avLst>
          </a:prstGeom>
          <a:solidFill>
            <a:srgbClr val="6B72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2331720" y="59253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2331720" y="61813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Scrapes metrics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446520" y="5870448"/>
            <a:ext cx="3108960" cy="566928"/>
          </a:xfrm>
          <a:prstGeom prst="roundRect">
            <a:avLst>
              <a:gd name="adj" fmla="val 9677"/>
            </a:avLst>
          </a:prstGeom>
          <a:solidFill>
            <a:srgbClr val="6B72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6446520" y="59253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6446520" y="61813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&amp; alerts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440680" y="6153912"/>
            <a:ext cx="10058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548640" y="658368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Blue: request layer   ·   Teal: data layer   ·   Coral: async/job layer   ·   Gray: monitoring</a:t>
            </a:r>
            <a:endParaRPr lang="en-US" sz="1000" dirty="0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FD7E4F0-BE29-F02C-5A31-2E1F10D6DC71}"/>
              </a:ext>
            </a:extLst>
          </p:cNvPr>
          <p:cNvCxnSpPr>
            <a:cxnSpLocks/>
            <a:stCxn id="27" idx="1"/>
          </p:cNvCxnSpPr>
          <p:nvPr/>
        </p:nvCxnSpPr>
        <p:spPr>
          <a:xfrm flipH="1" flipV="1">
            <a:off x="4160520" y="3255264"/>
            <a:ext cx="3840480" cy="8686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B24F7FAE-B07D-AC56-3608-7EEC3AE03363}"/>
              </a:ext>
            </a:extLst>
          </p:cNvPr>
          <p:cNvSpPr txBox="1"/>
          <p:nvPr/>
        </p:nvSpPr>
        <p:spPr>
          <a:xfrm rot="738907">
            <a:off x="5274265" y="3462013"/>
            <a:ext cx="1712168" cy="284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jobs status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EE9E80-BB6E-6403-1444-7443585DD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5454A7A-B74C-3114-A7C2-04E4E8E900B2}"/>
              </a:ext>
            </a:extLst>
          </p:cNvPr>
          <p:cNvSpPr/>
          <p:nvPr/>
        </p:nvSpPr>
        <p:spPr>
          <a:xfrm>
            <a:off x="11475720" y="384048"/>
            <a:ext cx="164592" cy="164592"/>
          </a:xfrm>
          <a:prstGeom prst="ellipse">
            <a:avLst/>
          </a:prstGeom>
          <a:solidFill>
            <a:srgbClr val="1C7293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9FBBAF3-C766-0EFD-DB5C-834DB4C4E456}"/>
              </a:ext>
            </a:extLst>
          </p:cNvPr>
          <p:cNvSpPr/>
          <p:nvPr/>
        </p:nvSpPr>
        <p:spPr>
          <a:xfrm>
            <a:off x="11722608" y="502920"/>
            <a:ext cx="109728" cy="109728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65CBD6F-6810-DCDA-1FD3-5567FF16A332}"/>
              </a:ext>
            </a:extLst>
          </p:cNvPr>
          <p:cNvSpPr/>
          <p:nvPr/>
        </p:nvSpPr>
        <p:spPr>
          <a:xfrm>
            <a:off x="11594592" y="621792"/>
            <a:ext cx="73152" cy="73152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2F2D6C4-DBFE-E489-E47F-C5612E12C78D}"/>
              </a:ext>
            </a:extLst>
          </p:cNvPr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654FD4B-470A-A398-221F-6C15C93F7C0B}"/>
              </a:ext>
            </a:extLst>
          </p:cNvPr>
          <p:cNvSpPr/>
          <p:nvPr/>
        </p:nvSpPr>
        <p:spPr>
          <a:xfrm>
            <a:off x="4709160" y="1234440"/>
            <a:ext cx="2743200" cy="566928"/>
          </a:xfrm>
          <a:prstGeom prst="roundRect">
            <a:avLst>
              <a:gd name="adj" fmla="val 967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F8567A9-1FC2-E96A-E684-58CA999FD468}"/>
              </a:ext>
            </a:extLst>
          </p:cNvPr>
          <p:cNvSpPr/>
          <p:nvPr/>
        </p:nvSpPr>
        <p:spPr>
          <a:xfrm>
            <a:off x="4709160" y="12893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2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131E1DC-B5C0-B7D2-46BA-D942AB8E105B}"/>
              </a:ext>
            </a:extLst>
          </p:cNvPr>
          <p:cNvSpPr/>
          <p:nvPr/>
        </p:nvSpPr>
        <p:spPr>
          <a:xfrm>
            <a:off x="4709160" y="154533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Locust / API consumers</a:t>
            </a:r>
            <a:endParaRPr lang="en-US" sz="95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4A45441-89D4-FF99-66DD-BE0B68C9D400}"/>
              </a:ext>
            </a:extLst>
          </p:cNvPr>
          <p:cNvSpPr/>
          <p:nvPr/>
        </p:nvSpPr>
        <p:spPr>
          <a:xfrm>
            <a:off x="6080760" y="1801368"/>
            <a:ext cx="0" cy="30175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573338D-6107-FA8F-82D6-C7C85907C9B1}"/>
              </a:ext>
            </a:extLst>
          </p:cNvPr>
          <p:cNvSpPr/>
          <p:nvPr/>
        </p:nvSpPr>
        <p:spPr>
          <a:xfrm>
            <a:off x="4709160" y="2103120"/>
            <a:ext cx="2743200" cy="566928"/>
          </a:xfrm>
          <a:prstGeom prst="roundRect">
            <a:avLst>
              <a:gd name="adj" fmla="val 967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9C74A4F-2146-1567-6999-E7F1B981ABF1}"/>
              </a:ext>
            </a:extLst>
          </p:cNvPr>
          <p:cNvSpPr/>
          <p:nvPr/>
        </p:nvSpPr>
        <p:spPr>
          <a:xfrm>
            <a:off x="4709160" y="21579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 API</a:t>
            </a:r>
            <a:endParaRPr lang="en-US" sz="125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D51FD94-053A-804A-8C0E-E24578E26491}"/>
              </a:ext>
            </a:extLst>
          </p:cNvPr>
          <p:cNvSpPr/>
          <p:nvPr/>
        </p:nvSpPr>
        <p:spPr>
          <a:xfrm>
            <a:off x="4709160" y="24140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HTTP requests</a:t>
            </a:r>
            <a:endParaRPr lang="en-US" sz="95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F9DC4B8-2B7D-DD20-A3E5-0775205E4DAD}"/>
              </a:ext>
            </a:extLst>
          </p:cNvPr>
          <p:cNvSpPr/>
          <p:nvPr/>
        </p:nvSpPr>
        <p:spPr>
          <a:xfrm flipH="1">
            <a:off x="2788920" y="2670048"/>
            <a:ext cx="2606040" cy="30175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66D374BD-2ECE-4579-B68F-ABEA45D364F8}"/>
              </a:ext>
            </a:extLst>
          </p:cNvPr>
          <p:cNvSpPr/>
          <p:nvPr/>
        </p:nvSpPr>
        <p:spPr>
          <a:xfrm>
            <a:off x="6766560" y="2670048"/>
            <a:ext cx="2606040" cy="30175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2BF0A4BA-D950-9A85-2FFF-B877E136144C}"/>
              </a:ext>
            </a:extLst>
          </p:cNvPr>
          <p:cNvSpPr/>
          <p:nvPr/>
        </p:nvSpPr>
        <p:spPr>
          <a:xfrm>
            <a:off x="1417320" y="2971800"/>
            <a:ext cx="2743200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C1FF8DB-8032-51AD-CCF3-9DF09C38532D}"/>
              </a:ext>
            </a:extLst>
          </p:cNvPr>
          <p:cNvSpPr/>
          <p:nvPr/>
        </p:nvSpPr>
        <p:spPr>
          <a:xfrm>
            <a:off x="1417320" y="3026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PgBouncer</a:t>
            </a:r>
            <a:endParaRPr lang="en-US" sz="125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51C1734-AE5E-19A5-5C89-3837E285C5FB}"/>
              </a:ext>
            </a:extLst>
          </p:cNvPr>
          <p:cNvSpPr/>
          <p:nvPr/>
        </p:nvSpPr>
        <p:spPr>
          <a:xfrm>
            <a:off x="1417320" y="328269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pool_size=20, port 6432</a:t>
            </a:r>
            <a:endParaRPr lang="en-US" sz="95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147F3A01-9D7D-5024-8C4B-A317B04ED8CF}"/>
              </a:ext>
            </a:extLst>
          </p:cNvPr>
          <p:cNvSpPr/>
          <p:nvPr/>
        </p:nvSpPr>
        <p:spPr>
          <a:xfrm>
            <a:off x="8001000" y="2971800"/>
            <a:ext cx="2743200" cy="566928"/>
          </a:xfrm>
          <a:prstGeom prst="roundRect">
            <a:avLst>
              <a:gd name="adj" fmla="val 9677"/>
            </a:avLst>
          </a:prstGeom>
          <a:solidFill>
            <a:srgbClr val="D968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EEAFD86-7590-64B8-6004-E09C03109323}"/>
              </a:ext>
            </a:extLst>
          </p:cNvPr>
          <p:cNvSpPr/>
          <p:nvPr/>
        </p:nvSpPr>
        <p:spPr>
          <a:xfrm>
            <a:off x="8001000" y="3026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25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1388E843-82CC-3D6C-591F-EA53FADF788B}"/>
              </a:ext>
            </a:extLst>
          </p:cNvPr>
          <p:cNvSpPr/>
          <p:nvPr/>
        </p:nvSpPr>
        <p:spPr>
          <a:xfrm>
            <a:off x="8001000" y="328269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+ result backend</a:t>
            </a:r>
            <a:endParaRPr lang="en-US" sz="95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60BF23A8-2F08-5DF8-F962-92BB648C0D5C}"/>
              </a:ext>
            </a:extLst>
          </p:cNvPr>
          <p:cNvSpPr/>
          <p:nvPr/>
        </p:nvSpPr>
        <p:spPr>
          <a:xfrm>
            <a:off x="2788920" y="3538728"/>
            <a:ext cx="0" cy="30175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09E55B97-58DC-8990-4093-DEB1269FDF6D}"/>
              </a:ext>
            </a:extLst>
          </p:cNvPr>
          <p:cNvSpPr/>
          <p:nvPr/>
        </p:nvSpPr>
        <p:spPr>
          <a:xfrm>
            <a:off x="9052560" y="3538728"/>
            <a:ext cx="0" cy="30175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BC5BFA5B-3569-973B-9F08-D4D14EB9AA65}"/>
              </a:ext>
            </a:extLst>
          </p:cNvPr>
          <p:cNvSpPr/>
          <p:nvPr/>
        </p:nvSpPr>
        <p:spPr>
          <a:xfrm flipV="1">
            <a:off x="9692640" y="3538728"/>
            <a:ext cx="0" cy="30175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69809600-9101-387A-31E9-9E8DCC537140}"/>
              </a:ext>
            </a:extLst>
          </p:cNvPr>
          <p:cNvSpPr/>
          <p:nvPr/>
        </p:nvSpPr>
        <p:spPr>
          <a:xfrm>
            <a:off x="1417320" y="3840480"/>
            <a:ext cx="2743200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BC280A02-CB13-889A-56FE-2F131D54514A}"/>
              </a:ext>
            </a:extLst>
          </p:cNvPr>
          <p:cNvSpPr/>
          <p:nvPr/>
        </p:nvSpPr>
        <p:spPr>
          <a:xfrm>
            <a:off x="1417320" y="38953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5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D2C73280-F912-858B-594A-E514FBE6FE32}"/>
              </a:ext>
            </a:extLst>
          </p:cNvPr>
          <p:cNvSpPr/>
          <p:nvPr/>
        </p:nvSpPr>
        <p:spPr>
          <a:xfrm>
            <a:off x="1417320" y="415137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max_connections=100</a:t>
            </a:r>
            <a:endParaRPr lang="en-US" sz="95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443AF2B5-148D-C040-9AF0-D5E2229593DD}"/>
              </a:ext>
            </a:extLst>
          </p:cNvPr>
          <p:cNvSpPr/>
          <p:nvPr/>
        </p:nvSpPr>
        <p:spPr>
          <a:xfrm>
            <a:off x="8001000" y="3840480"/>
            <a:ext cx="2743200" cy="566928"/>
          </a:xfrm>
          <a:prstGeom prst="roundRect">
            <a:avLst>
              <a:gd name="adj" fmla="val 9677"/>
            </a:avLst>
          </a:prstGeom>
          <a:solidFill>
            <a:srgbClr val="D968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B73129A0-9BF5-1C0D-7A34-12528876A7E8}"/>
              </a:ext>
            </a:extLst>
          </p:cNvPr>
          <p:cNvSpPr/>
          <p:nvPr/>
        </p:nvSpPr>
        <p:spPr>
          <a:xfrm>
            <a:off x="8001000" y="38953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workers</a:t>
            </a:r>
            <a:endParaRPr lang="en-US" sz="125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8B89FECC-F28A-EA8B-FE57-6D6BEDE4232C}"/>
              </a:ext>
            </a:extLst>
          </p:cNvPr>
          <p:cNvSpPr/>
          <p:nvPr/>
        </p:nvSpPr>
        <p:spPr>
          <a:xfrm>
            <a:off x="8001000" y="415137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queues, concurrency=4</a:t>
            </a:r>
            <a:endParaRPr lang="en-US" sz="95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8C61C178-3EB5-8B4E-A9A5-50CFD13045C2}"/>
              </a:ext>
            </a:extLst>
          </p:cNvPr>
          <p:cNvSpPr/>
          <p:nvPr/>
        </p:nvSpPr>
        <p:spPr>
          <a:xfrm>
            <a:off x="8001000" y="4709160"/>
            <a:ext cx="2743200" cy="566928"/>
          </a:xfrm>
          <a:prstGeom prst="roundRect">
            <a:avLst>
              <a:gd name="adj" fmla="val 9677"/>
            </a:avLst>
          </a:prstGeom>
          <a:solidFill>
            <a:srgbClr val="D968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67082411-D3B0-BB14-035C-44D82C5E79B5}"/>
              </a:ext>
            </a:extLst>
          </p:cNvPr>
          <p:cNvSpPr/>
          <p:nvPr/>
        </p:nvSpPr>
        <p:spPr>
          <a:xfrm>
            <a:off x="8001000" y="47640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beat</a:t>
            </a:r>
            <a:endParaRPr lang="en-US" sz="125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FB76EF94-451A-408F-E3DF-1D459A8E1BB0}"/>
              </a:ext>
            </a:extLst>
          </p:cNvPr>
          <p:cNvSpPr/>
          <p:nvPr/>
        </p:nvSpPr>
        <p:spPr>
          <a:xfrm>
            <a:off x="8001000" y="502005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 periodic tasks</a:t>
            </a:r>
            <a:endParaRPr lang="en-US" sz="95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A74E697A-A080-9361-47DB-D8532A242C80}"/>
              </a:ext>
            </a:extLst>
          </p:cNvPr>
          <p:cNvSpPr/>
          <p:nvPr/>
        </p:nvSpPr>
        <p:spPr>
          <a:xfrm>
            <a:off x="10561320" y="4709160"/>
            <a:ext cx="45720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654873F9-4A46-2226-4F6C-BC895C7EA0C8}"/>
              </a:ext>
            </a:extLst>
          </p:cNvPr>
          <p:cNvSpPr/>
          <p:nvPr/>
        </p:nvSpPr>
        <p:spPr>
          <a:xfrm>
            <a:off x="11018520" y="3255264"/>
            <a:ext cx="0" cy="1453896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CA034AB4-8443-5DC1-4A28-363B92C93E39}"/>
              </a:ext>
            </a:extLst>
          </p:cNvPr>
          <p:cNvSpPr/>
          <p:nvPr/>
        </p:nvSpPr>
        <p:spPr>
          <a:xfrm flipH="1">
            <a:off x="10744200" y="3255264"/>
            <a:ext cx="27432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58D10D1C-F8A5-087F-B9EB-A9D70789717A}"/>
              </a:ext>
            </a:extLst>
          </p:cNvPr>
          <p:cNvSpPr/>
          <p:nvPr/>
        </p:nvSpPr>
        <p:spPr>
          <a:xfrm>
            <a:off x="1417320" y="5532120"/>
            <a:ext cx="9326880" cy="960120"/>
          </a:xfrm>
          <a:prstGeom prst="roundRect">
            <a:avLst>
              <a:gd name="adj" fmla="val 7619"/>
            </a:avLst>
          </a:prstGeom>
          <a:ln w="12700">
            <a:solidFill>
              <a:srgbClr val="B9C2C8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F5F2D47D-5C27-E457-F0C3-5EA9C681952B}"/>
              </a:ext>
            </a:extLst>
          </p:cNvPr>
          <p:cNvSpPr/>
          <p:nvPr/>
        </p:nvSpPr>
        <p:spPr>
          <a:xfrm>
            <a:off x="1600200" y="5577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20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D540EE95-A2E4-B8C8-401A-0610ABF2304E}"/>
              </a:ext>
            </a:extLst>
          </p:cNvPr>
          <p:cNvSpPr/>
          <p:nvPr/>
        </p:nvSpPr>
        <p:spPr>
          <a:xfrm>
            <a:off x="2331720" y="5870448"/>
            <a:ext cx="3108960" cy="566928"/>
          </a:xfrm>
          <a:prstGeom prst="roundRect">
            <a:avLst>
              <a:gd name="adj" fmla="val 9677"/>
            </a:avLst>
          </a:prstGeom>
          <a:solidFill>
            <a:srgbClr val="6B72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93C812CC-6B52-18A2-E156-1720253BF682}"/>
              </a:ext>
            </a:extLst>
          </p:cNvPr>
          <p:cNvSpPr/>
          <p:nvPr/>
        </p:nvSpPr>
        <p:spPr>
          <a:xfrm>
            <a:off x="2331720" y="59253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25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9398D49B-35EE-AC85-9A1D-D313C9B3AC4A}"/>
              </a:ext>
            </a:extLst>
          </p:cNvPr>
          <p:cNvSpPr/>
          <p:nvPr/>
        </p:nvSpPr>
        <p:spPr>
          <a:xfrm>
            <a:off x="2331720" y="61813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Scrapes metrics</a:t>
            </a:r>
            <a:endParaRPr lang="en-US" sz="950" dirty="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EE8AA52C-1DC0-B47D-D862-26EA21124993}"/>
              </a:ext>
            </a:extLst>
          </p:cNvPr>
          <p:cNvSpPr/>
          <p:nvPr/>
        </p:nvSpPr>
        <p:spPr>
          <a:xfrm>
            <a:off x="6446520" y="5870448"/>
            <a:ext cx="3108960" cy="566928"/>
          </a:xfrm>
          <a:prstGeom prst="roundRect">
            <a:avLst>
              <a:gd name="adj" fmla="val 9677"/>
            </a:avLst>
          </a:prstGeom>
          <a:solidFill>
            <a:srgbClr val="6B72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80432713-11D3-452C-EF0B-137FA4AD12C7}"/>
              </a:ext>
            </a:extLst>
          </p:cNvPr>
          <p:cNvSpPr/>
          <p:nvPr/>
        </p:nvSpPr>
        <p:spPr>
          <a:xfrm>
            <a:off x="6446520" y="59253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250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229FCCC8-3663-F511-30F5-5405F61C46FD}"/>
              </a:ext>
            </a:extLst>
          </p:cNvPr>
          <p:cNvSpPr/>
          <p:nvPr/>
        </p:nvSpPr>
        <p:spPr>
          <a:xfrm>
            <a:off x="6446520" y="61813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&amp; alerts</a:t>
            </a:r>
            <a:endParaRPr lang="en-US" sz="950" dirty="0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5E502FF4-95BE-E1FF-28C4-3E7FA60A5F5A}"/>
              </a:ext>
            </a:extLst>
          </p:cNvPr>
          <p:cNvSpPr/>
          <p:nvPr/>
        </p:nvSpPr>
        <p:spPr>
          <a:xfrm>
            <a:off x="5440680" y="6153912"/>
            <a:ext cx="10058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46B8C099-29B9-E301-A256-56A2C8859E56}"/>
              </a:ext>
            </a:extLst>
          </p:cNvPr>
          <p:cNvSpPr/>
          <p:nvPr/>
        </p:nvSpPr>
        <p:spPr>
          <a:xfrm>
            <a:off x="548640" y="658368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Blue: request layer   ·   Teal: data layer   ·   Coral: async/job layer   ·   Gray: monitoring</a:t>
            </a:r>
            <a:endParaRPr lang="en-US" sz="1000" dirty="0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10B8E5B-8A1C-641E-A8E1-E27B2C1A9711}"/>
              </a:ext>
            </a:extLst>
          </p:cNvPr>
          <p:cNvCxnSpPr>
            <a:stCxn id="27" idx="1"/>
            <a:endCxn id="15" idx="3"/>
          </p:cNvCxnSpPr>
          <p:nvPr/>
        </p:nvCxnSpPr>
        <p:spPr>
          <a:xfrm flipH="1" flipV="1">
            <a:off x="4160520" y="3255264"/>
            <a:ext cx="3840480" cy="8686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10D44758-F30E-1083-3B2F-23A1A076282F}"/>
              </a:ext>
            </a:extLst>
          </p:cNvPr>
          <p:cNvSpPr txBox="1"/>
          <p:nvPr/>
        </p:nvSpPr>
        <p:spPr>
          <a:xfrm rot="738907">
            <a:off x="5274265" y="3462013"/>
            <a:ext cx="1712168" cy="284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jobs status</a:t>
            </a:r>
          </a:p>
        </p:txBody>
      </p:sp>
    </p:spTree>
    <p:extLst>
      <p:ext uri="{BB962C8B-B14F-4D97-AF65-F5344CB8AC3E}">
        <p14:creationId xmlns:p14="http://schemas.microsoft.com/office/powerpoint/2010/main" val="1432838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384048"/>
            <a:ext cx="164592" cy="164592"/>
          </a:xfrm>
          <a:prstGeom prst="ellipse">
            <a:avLst/>
          </a:prstGeom>
          <a:solidFill>
            <a:srgbClr val="1C7293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1722608" y="502920"/>
            <a:ext cx="109728" cy="109728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1594592" y="621792"/>
            <a:ext cx="73152" cy="73152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6675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live: PostgreSQL log, pg_stat_activity connection count (2s poll), Celery worker log, Locust report.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log showed a tight burst of FATAL errors within ~1 second — a connection-count spike, not a slow leak.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Django's per-request connections + 4 independent Celery worker connections together exceeded max_connections at 150 users.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589520" y="1280160"/>
            <a:ext cx="4023360" cy="2743200"/>
          </a:xfrm>
          <a:prstGeom prst="roundRect">
            <a:avLst>
              <a:gd name="adj" fmla="val 3333"/>
            </a:avLst>
          </a:prstGeom>
          <a:solidFill>
            <a:srgbClr val="FBE7E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589520" y="160020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B2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7863840" y="2606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connections observed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8160" y="3063240"/>
            <a:ext cx="2926080" cy="0"/>
          </a:xfrm>
          <a:prstGeom prst="line">
            <a:avLst/>
          </a:prstGeom>
          <a:noFill/>
          <a:ln w="12700">
            <a:solidFill>
              <a:srgbClr val="B23A2E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863840" y="3200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max_connections = 100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863840" y="3566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 breached → FATAL errors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77240" y="4462272"/>
            <a:ext cx="1060704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2026-08-01 23:52:24.887 IST [97061] postgres@jobqueue_db FATAL:  sorry, too many clients already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2026-08-01 23:52:24.901 IST [97062] postgres@jobqueue_db FATAL:  sorry, too many clients already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2026-08-01 23:52:25.243 IST [97070] postgres@jobqueue_db FATAL:  sorry, too many clients already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 burst clustered within ~1 second, correlated against connection-count log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384048"/>
            <a:ext cx="164592" cy="164592"/>
          </a:xfrm>
          <a:prstGeom prst="ellipse">
            <a:avLst/>
          </a:prstGeom>
          <a:solidFill>
            <a:srgbClr val="1C7293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1722608" y="502920"/>
            <a:ext cx="109728" cy="109728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1594592" y="621792"/>
            <a:ext cx="73152" cy="73152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attempt 1 — CONN_MAX_AGE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4937760" cy="1920240"/>
          </a:xfrm>
          <a:prstGeom prst="roundRect">
            <a:avLst>
              <a:gd name="adj" fmla="val 3810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77240" y="1399032"/>
            <a:ext cx="448056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DATABASES = {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'default': {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...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'CONN_MAX_AGE': 60,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2918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a DB connection for up to 60s instead of opening/closing per request — reduces connection churn.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06440" y="1234440"/>
          <a:ext cx="5806440" cy="27432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fix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CONN_MAX_AGE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1,085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162 (21.4%)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161 (14.8%)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latency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18,848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11,631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connections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2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2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438912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FBE7E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822960" y="45720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2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Peak connections unchanged: 104 → 104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22960" y="5029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CONN_MAX_AGE reduces connection churn, not concurrent connection count — the ceiling was still breached, so failures persisted.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384048"/>
            <a:ext cx="164592" cy="164592"/>
          </a:xfrm>
          <a:prstGeom prst="ellipse">
            <a:avLst/>
          </a:prstGeom>
          <a:solidFill>
            <a:srgbClr val="1C7293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1722608" y="502920"/>
            <a:ext cx="109728" cy="109728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1594592" y="621792"/>
            <a:ext cx="73152" cy="73152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attempt 2 — PgBouncer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4937760" cy="2286000"/>
          </a:xfrm>
          <a:prstGeom prst="roundRect">
            <a:avLst>
              <a:gd name="adj" fmla="val 3200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77240" y="1399032"/>
            <a:ext cx="448056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[pgbouncer]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listen_port = 6432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pool_mode = transaction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max_client_conn = 200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F2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default_pool_size = 20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6576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Postgres connections capped at the pooler layer — independent of how many clients Django/Celery open.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06440" y="1234440"/>
          <a:ext cx="5806440" cy="2907792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CONN_MAX_AGE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PgBouncer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1,085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4,078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161 (14.8%)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7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(0.0%)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latency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11,631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2,085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connections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2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7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457200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E3F2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548640" y="47091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F7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0.0%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731520" y="54681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rate (1 of 4,078 requests)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297680" y="457200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E3F2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4297680" y="47091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F7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5.3x</a:t>
            </a:r>
            <a:endParaRPr lang="en-US" sz="4000" dirty="0"/>
          </a:p>
        </p:txBody>
      </p:sp>
      <p:sp>
        <p:nvSpPr>
          <p:cNvPr id="15" name="Text 12"/>
          <p:cNvSpPr/>
          <p:nvPr/>
        </p:nvSpPr>
        <p:spPr>
          <a:xfrm>
            <a:off x="4480560" y="54681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vs. baseline (6.4 → 34.2 RPS)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046720" y="457200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E3F2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8046720" y="47091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F7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26/100</a:t>
            </a:r>
            <a:endParaRPr lang="en-US" sz="4000" dirty="0"/>
          </a:p>
        </p:txBody>
      </p:sp>
      <p:sp>
        <p:nvSpPr>
          <p:cNvPr id="18" name="Text 15"/>
          <p:cNvSpPr/>
          <p:nvPr/>
        </p:nvSpPr>
        <p:spPr>
          <a:xfrm>
            <a:off x="8229600" y="54681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connections — well under ceiling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384048"/>
            <a:ext cx="164592" cy="164592"/>
          </a:xfrm>
          <a:prstGeom prst="ellipse">
            <a:avLst/>
          </a:prstGeom>
          <a:solidFill>
            <a:srgbClr val="1C7293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1722608" y="502920"/>
            <a:ext cx="109728" cy="109728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1594592" y="621792"/>
            <a:ext cx="73152" cy="73152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219456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conn.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rate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fix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 / 100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Ceiling breached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CONN_MAX_AGE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0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 / 100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0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0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0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Improved, ceiling still breached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0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PgBouncer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 / 100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 resolved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02336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EEF3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822960" y="4206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500" dirty="0"/>
          </a:p>
        </p:txBody>
      </p:sp>
      <p:sp>
        <p:nvSpPr>
          <p:cNvPr id="6" name="Text 6"/>
          <p:cNvSpPr/>
          <p:nvPr/>
        </p:nvSpPr>
        <p:spPr>
          <a:xfrm>
            <a:off x="822960" y="45720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CONN_MAX_AGE reduces connection churn but does not cap concurrent connection count. When concurrent demand from Django + Celery exceeds max_connections, only a connection pooler enforcing a hard cap at the pool layer — PgBouncer — resolves it structurally.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5A8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E02F6F-C969-F2B2-C208-39280F575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A153B8E-0093-186F-C41E-C1CE2CA3BA06}"/>
              </a:ext>
            </a:extLst>
          </p:cNvPr>
          <p:cNvSpPr/>
          <p:nvPr/>
        </p:nvSpPr>
        <p:spPr>
          <a:xfrm>
            <a:off x="11475720" y="384048"/>
            <a:ext cx="164592" cy="164592"/>
          </a:xfrm>
          <a:prstGeom prst="ellipse">
            <a:avLst/>
          </a:prstGeom>
          <a:solidFill>
            <a:srgbClr val="BBD9E8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4FFBEBE-E954-7FDA-F148-DB8C59ABF3B0}"/>
              </a:ext>
            </a:extLst>
          </p:cNvPr>
          <p:cNvSpPr/>
          <p:nvPr/>
        </p:nvSpPr>
        <p:spPr>
          <a:xfrm>
            <a:off x="11722608" y="502920"/>
            <a:ext cx="109728" cy="109728"/>
          </a:xfrm>
          <a:prstGeom prst="ellipse">
            <a:avLst/>
          </a:prstGeom>
          <a:solidFill>
            <a:srgbClr val="BBD9E8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D61C68D-EDCA-684F-01E9-034B61C4C120}"/>
              </a:ext>
            </a:extLst>
          </p:cNvPr>
          <p:cNvSpPr/>
          <p:nvPr/>
        </p:nvSpPr>
        <p:spPr>
          <a:xfrm>
            <a:off x="11594592" y="621792"/>
            <a:ext cx="73152" cy="73152"/>
          </a:xfrm>
          <a:prstGeom prst="ellipse">
            <a:avLst/>
          </a:prstGeom>
          <a:solidFill>
            <a:srgbClr val="BBD9E8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9FD5939-0225-7575-0689-9834A4234A9F}"/>
              </a:ext>
            </a:extLst>
          </p:cNvPr>
          <p:cNvSpPr/>
          <p:nvPr/>
        </p:nvSpPr>
        <p:spPr>
          <a:xfrm>
            <a:off x="5217160" y="2924048"/>
            <a:ext cx="5486400" cy="784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070900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5A8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B8FFE7-8296-1CEB-09F3-05AD82B19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4448343-4370-24E0-3217-B74A174829EA}"/>
              </a:ext>
            </a:extLst>
          </p:cNvPr>
          <p:cNvSpPr/>
          <p:nvPr/>
        </p:nvSpPr>
        <p:spPr>
          <a:xfrm>
            <a:off x="11475720" y="384048"/>
            <a:ext cx="164592" cy="164592"/>
          </a:xfrm>
          <a:prstGeom prst="ellipse">
            <a:avLst/>
          </a:prstGeom>
          <a:solidFill>
            <a:srgbClr val="BBD9E8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81ACCAF-BC6E-87D6-0884-3F1452BA4132}"/>
              </a:ext>
            </a:extLst>
          </p:cNvPr>
          <p:cNvSpPr/>
          <p:nvPr/>
        </p:nvSpPr>
        <p:spPr>
          <a:xfrm>
            <a:off x="11722608" y="502920"/>
            <a:ext cx="109728" cy="109728"/>
          </a:xfrm>
          <a:prstGeom prst="ellipse">
            <a:avLst/>
          </a:prstGeom>
          <a:solidFill>
            <a:srgbClr val="BBD9E8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F273BC0-6D99-82D9-C861-5C4FCEAD7165}"/>
              </a:ext>
            </a:extLst>
          </p:cNvPr>
          <p:cNvSpPr/>
          <p:nvPr/>
        </p:nvSpPr>
        <p:spPr>
          <a:xfrm>
            <a:off x="11594592" y="621792"/>
            <a:ext cx="73152" cy="73152"/>
          </a:xfrm>
          <a:prstGeom prst="ellipse">
            <a:avLst/>
          </a:prstGeom>
          <a:solidFill>
            <a:srgbClr val="BBD9E8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9491533-5461-96C1-F623-E2DBCD6BE654}"/>
              </a:ext>
            </a:extLst>
          </p:cNvPr>
          <p:cNvSpPr/>
          <p:nvPr/>
        </p:nvSpPr>
        <p:spPr>
          <a:xfrm>
            <a:off x="5217160" y="2924048"/>
            <a:ext cx="5486400" cy="784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9955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9290083-bd2f-48a2-8ac5-09a524b17d15}" enabled="1" method="Privileged" siteId="{b9fec68c-c92d-461e-9a97-3d03a0f18b82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440</TotalTime>
  <Words>799</Words>
  <Application>Microsoft Office PowerPoint</Application>
  <PresentationFormat>Widescreen</PresentationFormat>
  <Paragraphs>187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A, Sathish Kumar</cp:lastModifiedBy>
  <cp:revision>6</cp:revision>
  <dcterms:created xsi:type="dcterms:W3CDTF">2026-08-02T18:49:58Z</dcterms:created>
  <dcterms:modified xsi:type="dcterms:W3CDTF">2026-08-27T11:53:33Z</dcterms:modified>
</cp:coreProperties>
</file>